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2" r:id="rId11"/>
    <p:sldId id="265" r:id="rId12"/>
    <p:sldId id="266" r:id="rId13"/>
    <p:sldId id="267" r:id="rId14"/>
    <p:sldId id="268"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artikjoshi7/FinForensic-AI"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finforensic-terminal.vercel.app/"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lvl="0" algn="ctr"/>
            <a:r>
              <a:rPr lang="en-US" b="1" i="1" dirty="0"/>
              <a:t>“Exploring the Power of Agentic AI with IBM Granite and </a:t>
            </a:r>
            <a:r>
              <a:rPr lang="en-IN" b="1" i="1" dirty="0" err="1"/>
              <a:t>LangChain</a:t>
            </a:r>
            <a:r>
              <a:rPr lang="en-US" b="1" i="1" dirty="0"/>
              <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19317637"/>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Kartik Joshi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kartikjoshi.dev7@gmail.com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+91 94278 52917</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t>FinTech / Institutional Finance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883517" cy="461624"/>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400" dirty="0" err="1"/>
              <a:t>FinForensic</a:t>
            </a:r>
            <a:r>
              <a:rPr lang="en-IN" sz="2400" dirty="0"/>
              <a:t> AI - Institutional Risk &amp; Compliance Terminal</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E696E634-414F-FDD7-B812-4126F3FA37A7}"/>
              </a:ext>
            </a:extLst>
          </p:cNvPr>
          <p:cNvPicPr>
            <a:picLocks noChangeAspect="1"/>
          </p:cNvPicPr>
          <p:nvPr/>
        </p:nvPicPr>
        <p:blipFill>
          <a:blip r:embed="rId3"/>
          <a:stretch>
            <a:fillRect/>
          </a:stretch>
        </p:blipFill>
        <p:spPr>
          <a:xfrm>
            <a:off x="4108030" y="3599129"/>
            <a:ext cx="827283" cy="11024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4832052"/>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IN" b="1" dirty="0" err="1"/>
              <a:t>FinForensic</a:t>
            </a:r>
            <a:r>
              <a:rPr lang="en-IN" b="1" dirty="0"/>
              <a:t> AI</a:t>
            </a:r>
            <a:endParaRPr b="1"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r>
              <a:rPr lang="en-IN" dirty="0"/>
              <a:t>Institutional finance demands absolute precision, but traditional auditing suffers from data overload, human latency, and siloed risk analysis. Furthermore, institutions cannot legally deploy standard Generative AI due to the </a:t>
            </a:r>
            <a:r>
              <a:rPr lang="en-IN" b="1" dirty="0"/>
              <a:t>"Black Box" problem</a:t>
            </a:r>
            <a:r>
              <a:rPr lang="en-IN" dirty="0"/>
              <a:t>—high-stakes financial decisions require strict regulatory compliance and verifiable audit trails, which generic LLMs fail to provide.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r>
              <a:rPr lang="en-IN" dirty="0"/>
              <a:t>Build an </a:t>
            </a:r>
            <a:r>
              <a:rPr lang="en-IN" b="1" dirty="0"/>
              <a:t>AI-powered Institutional Risk &amp; Compliance Terminal</a:t>
            </a:r>
            <a:r>
              <a:rPr lang="en-IN" dirty="0"/>
              <a:t> that delivers deterministic, risk-adjusted intelligence for asset managers and auditors. The solution should:</a:t>
            </a:r>
          </a:p>
          <a:p>
            <a:pPr marL="285750" indent="-285750">
              <a:buFont typeface="Courier New" panose="02070309020205020404" pitchFamily="49" charset="0"/>
              <a:buChar char="o"/>
            </a:pPr>
            <a:r>
              <a:rPr lang="en-IN" b="1" dirty="0"/>
              <a:t>Information Asymmetry Resolution</a:t>
            </a:r>
            <a:r>
              <a:rPr lang="en-IN" dirty="0"/>
              <a:t> – Rapidly ingest and </a:t>
            </a:r>
            <a:r>
              <a:rPr lang="en-IN" dirty="0" err="1"/>
              <a:t>analyze</a:t>
            </a:r>
            <a:r>
              <a:rPr lang="en-IN" dirty="0"/>
              <a:t> lengthy corporate disclosures (10-Ks, ESG reports) via Semantic RAG.</a:t>
            </a:r>
          </a:p>
          <a:p>
            <a:pPr marL="285750" indent="-285750">
              <a:buFont typeface="Courier New" panose="02070309020205020404" pitchFamily="49" charset="0"/>
              <a:buChar char="o"/>
            </a:pPr>
            <a:r>
              <a:rPr lang="en-IN" b="1" dirty="0"/>
              <a:t>Cognitive Audit Trail</a:t>
            </a:r>
            <a:r>
              <a:rPr lang="en-IN" dirty="0"/>
              <a:t> – Eliminate hallucinations by tracing every AI decision back to specific document chunks.</a:t>
            </a:r>
          </a:p>
          <a:p>
            <a:pPr marL="285750" indent="-285750">
              <a:buFont typeface="Courier New" panose="02070309020205020404" pitchFamily="49" charset="0"/>
              <a:buChar char="o"/>
            </a:pPr>
            <a:r>
              <a:rPr lang="en-IN" b="1" dirty="0"/>
              <a:t>Mandate Veto System</a:t>
            </a:r>
            <a:r>
              <a:rPr lang="en-IN" dirty="0"/>
              <a:t> – Programmatically deny trades that violate strict institutional or regulatory rules (e.g., SEBI, GDPR).</a:t>
            </a:r>
          </a:p>
          <a:p>
            <a:pPr marL="285750" indent="-285750">
              <a:buFont typeface="Courier New" panose="02070309020205020404" pitchFamily="49" charset="0"/>
              <a:buChar char="o"/>
            </a:pPr>
            <a:r>
              <a:rPr lang="en-IN" b="1" dirty="0"/>
              <a:t>Multi-Agent System</a:t>
            </a:r>
            <a:r>
              <a:rPr lang="en-IN" dirty="0"/>
              <a:t> –</a:t>
            </a:r>
          </a:p>
          <a:p>
            <a:pPr marL="285750" lvl="3" indent="-285750">
              <a:buFont typeface="Wingdings" panose="05000000000000000000" pitchFamily="2" charset="2"/>
              <a:buChar char="Ø"/>
            </a:pPr>
            <a:r>
              <a:rPr lang="en-IN" b="1" dirty="0"/>
              <a:t>        Quant Agent</a:t>
            </a:r>
            <a:r>
              <a:rPr lang="en-IN" dirty="0"/>
              <a:t> (models financial risk &amp; ROI elasticity)</a:t>
            </a:r>
          </a:p>
          <a:p>
            <a:pPr marL="285750" lvl="1" indent="-285750">
              <a:buFont typeface="Wingdings" panose="05000000000000000000" pitchFamily="2" charset="2"/>
              <a:buChar char="Ø"/>
            </a:pPr>
            <a:r>
              <a:rPr lang="en-IN" b="1" dirty="0"/>
              <a:t>        Compliance Agent</a:t>
            </a:r>
            <a:r>
              <a:rPr lang="en-IN" dirty="0"/>
              <a:t> (zero-tolerance regulatory watchdog)</a:t>
            </a:r>
          </a:p>
          <a:p>
            <a:pPr marL="285750" lvl="1" indent="-285750">
              <a:buFont typeface="Wingdings" panose="05000000000000000000" pitchFamily="2" charset="2"/>
              <a:buChar char="Ø"/>
            </a:pPr>
            <a:r>
              <a:rPr lang="en-IN" b="1" dirty="0"/>
              <a:t>        Macro-Economic Agent</a:t>
            </a:r>
            <a:r>
              <a:rPr lang="en-IN" dirty="0"/>
              <a:t> (assesses market context &amp; shocks)</a:t>
            </a:r>
          </a:p>
          <a:p>
            <a:pPr marL="285750" lvl="1" indent="-285750">
              <a:buFont typeface="Wingdings" panose="05000000000000000000" pitchFamily="2" charset="2"/>
              <a:buChar char="Ø"/>
            </a:pPr>
            <a:r>
              <a:rPr lang="en-IN" b="1" dirty="0"/>
              <a:t>        Chairman Orchestrator</a:t>
            </a:r>
            <a:r>
              <a:rPr lang="en-IN" dirty="0"/>
              <a:t> (synthesizes debate into a final verdict)</a:t>
            </a:r>
          </a:p>
          <a:p>
            <a:pPr marL="285750" indent="-285750">
              <a:buFont typeface="Courier New" panose="02070309020205020404" pitchFamily="49" charset="0"/>
              <a:buChar char="o"/>
            </a:pPr>
            <a:r>
              <a:rPr lang="en-IN" b="1" dirty="0"/>
              <a:t>Live Telemetry Dashboard</a:t>
            </a:r>
            <a:r>
              <a:rPr lang="en-IN" dirty="0"/>
              <a:t> – Provide real-time observability of AI token consumption and execution logic.</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lvl="0"/>
            <a:r>
              <a:rPr lang="en-US" sz="1400" b="1" i="0" u="none" strike="noStrike" cap="none" dirty="0">
                <a:solidFill>
                  <a:srgbClr val="000000"/>
                </a:solidFill>
                <a:latin typeface="Arial"/>
                <a:ea typeface="Arial"/>
                <a:cs typeface="Arial"/>
                <a:sym typeface="Arial"/>
              </a:rPr>
              <a:t>Proposed Solution: </a:t>
            </a:r>
            <a:r>
              <a:rPr lang="en-IN" b="1" dirty="0" err="1"/>
              <a:t>FinForensic</a:t>
            </a:r>
            <a:r>
              <a:rPr lang="en-IN" b="1" dirty="0"/>
              <a:t> AI Terminal</a:t>
            </a:r>
            <a:endParaRPr b="1" dirty="0"/>
          </a:p>
          <a:p>
            <a:pPr lvl="0"/>
            <a:r>
              <a:rPr lang="en-IN" dirty="0"/>
              <a:t>The proposed solution is a multi-agent AI-powered Risk &amp; Compliance Terminal built using </a:t>
            </a:r>
            <a:r>
              <a:rPr lang="en-IN" b="1" dirty="0" err="1"/>
              <a:t>LangChain</a:t>
            </a:r>
            <a:r>
              <a:rPr lang="en-IN" b="1" dirty="0"/>
              <a:t>, IBM watsonx.ai, and Granite Models</a:t>
            </a:r>
            <a:r>
              <a:rPr lang="en-IN" dirty="0"/>
              <a:t> to provide deterministic financial risk management. The system addresses deep institutional bottlenecks in manual document auditing, fragmented risk </a:t>
            </a:r>
            <a:r>
              <a:rPr lang="en-IN" dirty="0" err="1"/>
              <a:t>modeling</a:t>
            </a:r>
            <a:r>
              <a:rPr lang="en-IN" dirty="0"/>
              <a:t>, and LLM hallucinations through an intelligent, modular architecture.</a:t>
            </a:r>
          </a:p>
          <a:p>
            <a:pPr lvl="0"/>
            <a:endParaRPr lang="en-IN" dirty="0"/>
          </a:p>
          <a:p>
            <a:pPr lvl="0"/>
            <a:r>
              <a:rPr lang="en-IN" dirty="0"/>
              <a:t>At its core, the solution uses a </a:t>
            </a:r>
            <a:r>
              <a:rPr lang="en-IN" b="1" dirty="0"/>
              <a:t>Retrieval-Augmented Generation (RAG)</a:t>
            </a:r>
            <a:r>
              <a:rPr lang="en-IN" dirty="0"/>
              <a:t> pipeline to ingest complex financial disclosures. Corporate documents are chunked and stored in a localized </a:t>
            </a:r>
            <a:r>
              <a:rPr lang="en-IN" dirty="0" err="1"/>
              <a:t>ChromaDB</a:t>
            </a:r>
            <a:r>
              <a:rPr lang="en-IN" dirty="0"/>
              <a:t> vector database, enabling the system to retrieve targeted text context using Granite foundation models.</a:t>
            </a:r>
          </a:p>
          <a:p>
            <a:pPr lvl="0"/>
            <a:endParaRPr lang="en-IN" dirty="0"/>
          </a:p>
          <a:p>
            <a:r>
              <a:rPr lang="en-IN" dirty="0"/>
              <a:t>The terminal coordinates three highly specialized sub-agents under a central orchestrator:</a:t>
            </a:r>
          </a:p>
          <a:p>
            <a:pPr marL="285750" indent="-285750">
              <a:buFont typeface="Courier New" panose="02070309020205020404" pitchFamily="49" charset="0"/>
              <a:buChar char="o"/>
            </a:pPr>
            <a:r>
              <a:rPr lang="en-IN" b="1" dirty="0"/>
              <a:t>Aggressive Quant Agent:</a:t>
            </a:r>
            <a:r>
              <a:rPr lang="en-IN" dirty="0"/>
              <a:t> Models return curves and downside risk across Monte Carlo projection outputs.</a:t>
            </a:r>
          </a:p>
          <a:p>
            <a:pPr marL="285750" indent="-285750">
              <a:buFont typeface="Courier New" panose="02070309020205020404" pitchFamily="49" charset="0"/>
              <a:buChar char="o"/>
            </a:pPr>
            <a:r>
              <a:rPr lang="en-IN" b="1" dirty="0"/>
              <a:t>Compliance Officer Agent:</a:t>
            </a:r>
            <a:r>
              <a:rPr lang="en-IN" dirty="0"/>
              <a:t> Operates as a zero-tolerance watchdog, cross-referencing actions against rigid institutional rules to trigger programmatic hard vetoes.</a:t>
            </a:r>
          </a:p>
          <a:p>
            <a:pPr marL="285750" indent="-285750">
              <a:buFont typeface="Courier New" panose="02070309020205020404" pitchFamily="49" charset="0"/>
              <a:buChar char="o"/>
            </a:pPr>
            <a:r>
              <a:rPr lang="en-IN" b="1" dirty="0"/>
              <a:t>Macro-Economist Agent:</a:t>
            </a:r>
            <a:r>
              <a:rPr lang="en-IN" dirty="0"/>
              <a:t> Synthesizes broader market trends, geopolitical shifts, and historical macroeconomic shocks.</a:t>
            </a:r>
          </a:p>
          <a:p>
            <a:pPr marL="285750" indent="-285750">
              <a:buFont typeface="Courier New" panose="02070309020205020404" pitchFamily="49" charset="0"/>
              <a:buChar char="o"/>
            </a:pPr>
            <a:r>
              <a:rPr lang="en-IN" b="1" dirty="0"/>
              <a:t>Chairman Orchestrator:</a:t>
            </a:r>
            <a:r>
              <a:rPr lang="en-IN" dirty="0"/>
              <a:t> Manages the asynchronous Map-Reduce pipeline, forcing a peer debate before distilling a definitive, binding Boardroom Verdict.</a:t>
            </a: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dirty="0"/>
          </a:p>
          <a:p>
            <a:pPr lvl="0"/>
            <a:r>
              <a:rPr lang="en-IN" dirty="0"/>
              <a:t>The frontend is a premium, reactive dashboard built with </a:t>
            </a:r>
            <a:r>
              <a:rPr lang="en-IN" b="1" dirty="0"/>
              <a:t>Angular 18</a:t>
            </a:r>
            <a:r>
              <a:rPr lang="en-IN" dirty="0"/>
              <a:t> that leverages </a:t>
            </a:r>
            <a:r>
              <a:rPr lang="en-IN" dirty="0" err="1"/>
              <a:t>RxJS</a:t>
            </a:r>
            <a:r>
              <a:rPr lang="en-IN" dirty="0"/>
              <a:t> and Server-Sent Events (SSE) to display the live cognitive audit trail and real-time token telemetry. </a:t>
            </a:r>
            <a:r>
              <a:rPr lang="en-IN" dirty="0" err="1"/>
              <a:t>LangChain</a:t>
            </a:r>
            <a:r>
              <a:rPr lang="en-IN" dirty="0"/>
              <a:t> orchestrates agent workflows within a </a:t>
            </a:r>
            <a:r>
              <a:rPr lang="en-IN" b="1" dirty="0" err="1"/>
              <a:t>FastAPI</a:t>
            </a:r>
            <a:r>
              <a:rPr lang="en-IN" dirty="0"/>
              <a:t> backend, while </a:t>
            </a:r>
            <a:r>
              <a:rPr lang="en-IN" b="1" dirty="0"/>
              <a:t>IBM watsonx.ai</a:t>
            </a:r>
            <a:r>
              <a:rPr lang="en-IN" dirty="0"/>
              <a:t> ensures enterprise-grade model deployment, security parameters, and AI governance. Granite models power the core reasoning, debate, and synthesis.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285750" indent="-285750">
              <a:buFont typeface="Courier New" panose="02070309020205020404" pitchFamily="49" charset="0"/>
              <a:buChar char="o"/>
            </a:pPr>
            <a:r>
              <a:rPr lang="en-IN" sz="1800" b="1" dirty="0" err="1"/>
              <a:t>LangChain</a:t>
            </a:r>
            <a:r>
              <a:rPr lang="en-IN" sz="1800" b="1" dirty="0"/>
              <a:t> Framework</a:t>
            </a:r>
            <a:r>
              <a:rPr lang="en-IN" sz="1800" dirty="0"/>
              <a:t> – For engineering and orchestrating the multi-agent asynchronous Map-Reduce pipeline programmatically.</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IBM Granite Model</a:t>
            </a:r>
            <a:r>
              <a:rPr lang="en-IN" sz="1800" dirty="0"/>
              <a:t> – specifically </a:t>
            </a:r>
            <a:r>
              <a:rPr lang="en-IN" dirty="0" err="1"/>
              <a:t>ibm</a:t>
            </a:r>
            <a:r>
              <a:rPr lang="en-IN" dirty="0"/>
              <a:t>/granite-4-h-small</a:t>
            </a:r>
            <a:r>
              <a:rPr lang="en-IN" sz="1800" dirty="0"/>
              <a:t> – For high-stakes natural language understanding, financial reasoning, and debate synthesis.</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IBM Cloud &amp; Watsonx.ai</a:t>
            </a:r>
            <a:r>
              <a:rPr lang="en-IN" sz="1800" dirty="0"/>
              <a:t> – Provides the enterprise-grade infrastructure for secure model deployment, rapid prompt execution, token telemetry, and AI governance.</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RAG (Retrieval-Augmented Generation)</a:t>
            </a:r>
            <a:r>
              <a:rPr lang="en-IN" sz="1800" dirty="0"/>
              <a:t> – To fetch real-world data from dense corporate disclosures (e.g., PDFs) first, grounding the AI and actively preventing hallucinations.</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Vector Database (</a:t>
            </a:r>
            <a:r>
              <a:rPr lang="en-IN" sz="1800" b="1" dirty="0" err="1"/>
              <a:t>ChromaDB</a:t>
            </a:r>
            <a:r>
              <a:rPr lang="en-IN" sz="1800" b="1" dirty="0"/>
              <a:t>)</a:t>
            </a:r>
            <a:r>
              <a:rPr lang="en-IN" sz="1800" dirty="0"/>
              <a:t> – For localized, semantic embedding storage and rapid RAG-based document chunk retrieval.</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err="1"/>
              <a:t>FastAPI</a:t>
            </a:r>
            <a:r>
              <a:rPr lang="en-IN" sz="1800" b="1" dirty="0"/>
              <a:t> &amp; Angular 18</a:t>
            </a:r>
            <a:r>
              <a:rPr lang="en-IN" sz="1800" dirty="0"/>
              <a:t> – Powers the highly concurrent Python backend and the reactive, real-time frontend terminal via Server-Sent Events (SSE).</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474822" y="593213"/>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Core System Components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133161"/>
            <a:ext cx="10022490" cy="4524275"/>
          </a:xfrm>
          <a:prstGeom prst="rect">
            <a:avLst/>
          </a:prstGeom>
          <a:noFill/>
          <a:ln>
            <a:noFill/>
          </a:ln>
        </p:spPr>
        <p:txBody>
          <a:bodyPr spcFirstLastPara="1" wrap="square" lIns="91425" tIns="45700" rIns="91425" bIns="45700" anchor="t" anchorCtr="0">
            <a:spAutoFit/>
          </a:bodyPr>
          <a:lstStyle/>
          <a:p>
            <a:pPr marL="342900" indent="-342900">
              <a:buAutoNum type="arabicParenR"/>
            </a:pPr>
            <a:r>
              <a:rPr lang="en-IN" sz="1600" b="1" dirty="0"/>
              <a:t>Angular 18 Client (Frontend) –</a:t>
            </a:r>
            <a:r>
              <a:rPr lang="en-IN" sz="1600" dirty="0"/>
              <a:t> The reactive user interface where auditors input queries and parameters (e.g., SIP duration, expected returns) via a modern, dark-mode terminal.</a:t>
            </a:r>
          </a:p>
          <a:p>
            <a:pPr marL="342900" indent="-342900">
              <a:buAutoNum type="arabicParenR"/>
            </a:pPr>
            <a:endParaRPr lang="en-IN" sz="1600" dirty="0"/>
          </a:p>
          <a:p>
            <a:r>
              <a:rPr lang="en-IN" sz="1600" b="1" dirty="0"/>
              <a:t>2) </a:t>
            </a:r>
            <a:r>
              <a:rPr lang="en-IN" sz="1600" b="1" dirty="0" err="1"/>
              <a:t>FastAPI</a:t>
            </a:r>
            <a:r>
              <a:rPr lang="en-IN" sz="1600" b="1" dirty="0"/>
              <a:t> Orchestrator (Backend) –</a:t>
            </a:r>
            <a:r>
              <a:rPr lang="en-IN" sz="1600" dirty="0"/>
              <a:t> The asynchronous Python server that manages the multi-agent pipeline, enforces validation schemas, and streams real-time SSE responses to the client.</a:t>
            </a:r>
          </a:p>
          <a:p>
            <a:endParaRPr lang="en-IN" sz="1600" dirty="0"/>
          </a:p>
          <a:p>
            <a:r>
              <a:rPr lang="en-IN" sz="1600" b="1" dirty="0"/>
              <a:t>3) IBM Watsonx.ai API Integration –</a:t>
            </a:r>
            <a:r>
              <a:rPr lang="en-IN" sz="1600" dirty="0"/>
              <a:t> The crucial connection layer that routes complex financial logic to IBM's secure cloud infrastructure for cognitive processing.</a:t>
            </a:r>
          </a:p>
          <a:p>
            <a:endParaRPr lang="en-IN" sz="1600" dirty="0"/>
          </a:p>
          <a:p>
            <a:r>
              <a:rPr lang="en-IN" sz="1600" b="1" dirty="0"/>
              <a:t>4) Name of IBM Granite model -</a:t>
            </a:r>
            <a:r>
              <a:rPr lang="en-IN" sz="1600" dirty="0"/>
              <a:t> </a:t>
            </a:r>
            <a:r>
              <a:rPr lang="en-IN" sz="1600" dirty="0" err="1"/>
              <a:t>ibm</a:t>
            </a:r>
            <a:r>
              <a:rPr lang="en-IN" sz="1600" dirty="0"/>
              <a:t>/granite-4-h-small → Engineered for high-stakes, deterministic financial reasoning and debate synthesis.</a:t>
            </a:r>
          </a:p>
          <a:p>
            <a:endParaRPr lang="en-IN" sz="1600" dirty="0"/>
          </a:p>
          <a:p>
            <a:r>
              <a:rPr lang="en-IN" sz="1600" b="1" dirty="0"/>
              <a:t>5) </a:t>
            </a:r>
            <a:r>
              <a:rPr lang="en-IN" sz="1600" b="1" dirty="0" err="1"/>
              <a:t>ChromaDB</a:t>
            </a:r>
            <a:r>
              <a:rPr lang="en-IN" sz="1600" b="1" dirty="0"/>
              <a:t> Vector Store –</a:t>
            </a:r>
            <a:r>
              <a:rPr lang="en-IN" sz="1600" dirty="0"/>
              <a:t> The localized memory module that stores chunked PDF disclosures and powers the Semantic RAG (Retrieval-Augmented Generation) pipeline.</a:t>
            </a:r>
          </a:p>
          <a:p>
            <a:endParaRPr lang="en-IN" sz="1600" dirty="0"/>
          </a:p>
          <a:p>
            <a:r>
              <a:rPr lang="en-IN" sz="1600" b="1" dirty="0"/>
              <a:t>6) Live Telemetry &amp; Audit Trail –</a:t>
            </a:r>
            <a:r>
              <a:rPr lang="en-IN" sz="1600" dirty="0"/>
              <a:t> The dynamic UI components that render the "under-the-hood" execution logs, Agentic Veto lineage, and exact token consumption costs.</a:t>
            </a:r>
          </a:p>
          <a:p>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5570" y="487831"/>
            <a:ext cx="7207378"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System Architecture &amp; </a:t>
            </a:r>
            <a:r>
              <a:rPr lang="en-IN" sz="2400" b="1" dirty="0" err="1"/>
              <a:t>LangChain</a:t>
            </a:r>
            <a:r>
              <a:rPr lang="en-IN" sz="2400" b="1" dirty="0"/>
              <a:t> Orchestration -</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B50BC74-E909-D66B-953D-9538FE8040B0}"/>
              </a:ext>
            </a:extLst>
          </p:cNvPr>
          <p:cNvPicPr>
            <a:picLocks noChangeAspect="1"/>
          </p:cNvPicPr>
          <p:nvPr/>
        </p:nvPicPr>
        <p:blipFill>
          <a:blip r:embed="rId3"/>
          <a:stretch>
            <a:fillRect/>
          </a:stretch>
        </p:blipFill>
        <p:spPr>
          <a:xfrm>
            <a:off x="2638520" y="1018183"/>
            <a:ext cx="6914959" cy="57199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6FA3F764-60C1-E8D2-0791-89C35D804EF3}"/>
              </a:ext>
            </a:extLst>
          </p:cNvPr>
          <p:cNvPicPr>
            <a:picLocks noChangeAspect="1"/>
          </p:cNvPicPr>
          <p:nvPr/>
        </p:nvPicPr>
        <p:blipFill>
          <a:blip r:embed="rId3"/>
          <a:stretch>
            <a:fillRect/>
          </a:stretch>
        </p:blipFill>
        <p:spPr>
          <a:xfrm>
            <a:off x="0" y="2242840"/>
            <a:ext cx="12192000" cy="2372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167493"/>
            <a:ext cx="7406640" cy="4832052"/>
          </a:xfrm>
          <a:prstGeom prst="rect">
            <a:avLst/>
          </a:prstGeom>
          <a:noFill/>
          <a:ln>
            <a:noFill/>
          </a:ln>
        </p:spPr>
        <p:txBody>
          <a:bodyPr spcFirstLastPara="1" wrap="square" lIns="91425" tIns="45700" rIns="91425" bIns="45700" anchor="t" anchorCtr="0">
            <a:spAutoFit/>
          </a:bodyPr>
          <a:lstStyle/>
          <a:p>
            <a:pPr lvl="0"/>
            <a:r>
              <a:rPr lang="en-IN" b="1" dirty="0"/>
              <a:t>Role of Agentic AI in </a:t>
            </a:r>
            <a:r>
              <a:rPr lang="en-IN" b="1" dirty="0" err="1"/>
              <a:t>FinForensic</a:t>
            </a:r>
            <a:r>
              <a:rPr lang="en-IN" b="1" dirty="0"/>
              <a:t> AI</a:t>
            </a:r>
          </a:p>
          <a:p>
            <a:pPr lvl="0"/>
            <a:endParaRPr lang="en-IN" b="1" dirty="0"/>
          </a:p>
          <a:p>
            <a:r>
              <a:rPr lang="en-IN" dirty="0"/>
              <a:t>Agentic AI enables the Risk &amp; Compliance Terminal to function as an autonomous, multi-disciplinary financial board rather than a simple Q&amp;A chatbot. Using </a:t>
            </a:r>
            <a:r>
              <a:rPr lang="en-IN" dirty="0" err="1"/>
              <a:t>LangChain</a:t>
            </a:r>
            <a:r>
              <a:rPr lang="en-IN" dirty="0"/>
              <a:t> orchestration and IBM Granite models, it coordinates a swarm of specialized agents to deliver deterministic, risk-adjusted verdicts.</a:t>
            </a:r>
          </a:p>
          <a:p>
            <a:endParaRPr lang="en-IN" dirty="0"/>
          </a:p>
          <a:p>
            <a:pPr marL="285750" indent="-285750">
              <a:buFont typeface="Courier New" panose="02070309020205020404" pitchFamily="49" charset="0"/>
              <a:buChar char="o"/>
            </a:pPr>
            <a:r>
              <a:rPr lang="en-IN" b="1" dirty="0"/>
              <a:t>Specialized Roles:</a:t>
            </a:r>
            <a:r>
              <a:rPr lang="en-IN" dirty="0"/>
              <a:t> Each agent performs a distinct institutional function. The </a:t>
            </a:r>
            <a:r>
              <a:rPr lang="en-IN" b="1" dirty="0"/>
              <a:t>Aggressive Quant</a:t>
            </a:r>
            <a:r>
              <a:rPr lang="en-IN" dirty="0"/>
              <a:t> models returns, the </a:t>
            </a:r>
            <a:r>
              <a:rPr lang="en-IN" b="1" dirty="0"/>
              <a:t>Compliance Officer</a:t>
            </a:r>
            <a:r>
              <a:rPr lang="en-IN" dirty="0"/>
              <a:t> audits regulatory adherence, and the </a:t>
            </a:r>
            <a:r>
              <a:rPr lang="en-IN" b="1" dirty="0"/>
              <a:t>Macro-Economist</a:t>
            </a:r>
            <a:r>
              <a:rPr lang="en-IN" dirty="0"/>
              <a:t> assesses market context. They operate asynchronously, cross-examining complex financial data.</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r>
              <a:rPr lang="en-IN" b="1" dirty="0"/>
              <a:t>Institutional Guardrails:</a:t>
            </a:r>
            <a:r>
              <a:rPr lang="en-IN" dirty="0"/>
              <a:t> Instead of blindly generating text, the agents debate. The Compliance Agent actively monitors the Quant Agent's strategies and possesses the autonomy to trigger a </a:t>
            </a:r>
            <a:r>
              <a:rPr lang="en-IN" b="1" dirty="0"/>
              <a:t>Hard Veto</a:t>
            </a:r>
            <a:r>
              <a:rPr lang="en-IN" dirty="0"/>
              <a:t> if regulatory frameworks (e.g., SEBI guidelines) are violated.</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r>
              <a:rPr lang="en-IN" b="1" dirty="0"/>
              <a:t>Final Synthesis:</a:t>
            </a:r>
            <a:r>
              <a:rPr lang="en-IN" dirty="0"/>
              <a:t> The </a:t>
            </a:r>
            <a:r>
              <a:rPr lang="en-IN" b="1" dirty="0"/>
              <a:t>Chairman Orchestrator</a:t>
            </a:r>
            <a:r>
              <a:rPr lang="en-IN" dirty="0"/>
              <a:t> agent ingests the conflicting reports from the sub-agents and </a:t>
            </a:r>
            <a:r>
              <a:rPr lang="en-IN" dirty="0" err="1"/>
              <a:t>distills</a:t>
            </a:r>
            <a:r>
              <a:rPr lang="en-IN" dirty="0"/>
              <a:t> them into a single, binding Boardroom Verdict.</a:t>
            </a:r>
          </a:p>
          <a:p>
            <a:endParaRPr lang="en-IN" dirty="0"/>
          </a:p>
          <a:p>
            <a:r>
              <a:rPr lang="en-IN" dirty="0"/>
              <a:t>Overall, Agentic AI transforms a standard LLM into a proactive, strictly governed, and mathematically grounded institutional auditor.</a:t>
            </a:r>
          </a:p>
        </p:txBody>
      </p:sp>
      <p:pic>
        <p:nvPicPr>
          <p:cNvPr id="13" name="Graphic 12" descr="Head with gears with solid fill">
            <a:extLst>
              <a:ext uri="{FF2B5EF4-FFF2-40B4-BE49-F238E27FC236}">
                <a16:creationId xmlns:a16="http://schemas.microsoft.com/office/drawing/2014/main" id="{89DD0AAB-1AC5-B2ED-A9FF-2A5E02D219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03108" y="1167493"/>
            <a:ext cx="1543812" cy="1543812"/>
          </a:xfrm>
          <a:prstGeom prst="rect">
            <a:avLst/>
          </a:prstGeom>
        </p:spPr>
      </p:pic>
      <p:pic>
        <p:nvPicPr>
          <p:cNvPr id="15" name="Graphic 14" descr="Social network with solid fill">
            <a:extLst>
              <a:ext uri="{FF2B5EF4-FFF2-40B4-BE49-F238E27FC236}">
                <a16:creationId xmlns:a16="http://schemas.microsoft.com/office/drawing/2014/main" id="{43943D95-13FA-CF3A-5E91-62D2145345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88296" y="2596896"/>
            <a:ext cx="1475232" cy="1475232"/>
          </a:xfrm>
          <a:prstGeom prst="rect">
            <a:avLst/>
          </a:prstGeom>
        </p:spPr>
      </p:pic>
      <p:pic>
        <p:nvPicPr>
          <p:cNvPr id="17" name="Graphic 16" descr="Network with solid fill">
            <a:extLst>
              <a:ext uri="{FF2B5EF4-FFF2-40B4-BE49-F238E27FC236}">
                <a16:creationId xmlns:a16="http://schemas.microsoft.com/office/drawing/2014/main" id="{2A2F06ED-5B19-1C7E-D5E1-53DA62AF21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8368" y="4146696"/>
            <a:ext cx="1368552" cy="1368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9F78-227A-844B-6060-944B272A22A6}"/>
              </a:ext>
            </a:extLst>
          </p:cNvPr>
          <p:cNvSpPr>
            <a:spLocks noGrp="1"/>
          </p:cNvSpPr>
          <p:nvPr>
            <p:ph type="title"/>
          </p:nvPr>
        </p:nvSpPr>
        <p:spPr>
          <a:xfrm>
            <a:off x="838200" y="365125"/>
            <a:ext cx="5928360" cy="576707"/>
          </a:xfrm>
        </p:spPr>
        <p:txBody>
          <a:bodyPr>
            <a:normAutofit/>
          </a:bodyPr>
          <a:lstStyle/>
          <a:p>
            <a:r>
              <a:rPr lang="en-IN" sz="2400" b="1" dirty="0">
                <a:latin typeface="Arial" panose="020B0604020202020204" pitchFamily="34" charset="0"/>
                <a:cs typeface="Arial" panose="020B0604020202020204" pitchFamily="34" charset="0"/>
              </a:rPr>
              <a:t>System Execution: Live Boardroom UI</a:t>
            </a:r>
          </a:p>
        </p:txBody>
      </p:sp>
      <p:pic>
        <p:nvPicPr>
          <p:cNvPr id="7" name="Picture 6">
            <a:extLst>
              <a:ext uri="{FF2B5EF4-FFF2-40B4-BE49-F238E27FC236}">
                <a16:creationId xmlns:a16="http://schemas.microsoft.com/office/drawing/2014/main" id="{F8ADCEBA-49FD-B543-62D3-95D1DDAD0288}"/>
              </a:ext>
            </a:extLst>
          </p:cNvPr>
          <p:cNvPicPr>
            <a:picLocks noChangeAspect="1"/>
          </p:cNvPicPr>
          <p:nvPr/>
        </p:nvPicPr>
        <p:blipFill>
          <a:blip r:embed="rId2"/>
          <a:stretch>
            <a:fillRect/>
          </a:stretch>
        </p:blipFill>
        <p:spPr>
          <a:xfrm>
            <a:off x="485300" y="1011448"/>
            <a:ext cx="11221399" cy="5764256"/>
          </a:xfrm>
          <a:prstGeom prst="rect">
            <a:avLst/>
          </a:prstGeom>
        </p:spPr>
      </p:pic>
    </p:spTree>
    <p:extLst>
      <p:ext uri="{BB962C8B-B14F-4D97-AF65-F5344CB8AC3E}">
        <p14:creationId xmlns:p14="http://schemas.microsoft.com/office/powerpoint/2010/main" val="2728679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lvl="0">
              <a:lnSpc>
                <a:spcPct val="157142"/>
              </a:lnSpc>
            </a:pPr>
            <a:r>
              <a:rPr lang="en-IN" sz="2400" b="1" dirty="0"/>
              <a:t>Token Usage &amp; AI-Assisted Development</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793192" y="956960"/>
            <a:ext cx="9161008" cy="1169511"/>
          </a:xfrm>
          <a:prstGeom prst="rect">
            <a:avLst/>
          </a:prstGeom>
          <a:noFill/>
          <a:ln>
            <a:noFill/>
          </a:ln>
        </p:spPr>
        <p:txBody>
          <a:bodyPr spcFirstLastPara="1" wrap="square" lIns="91425" tIns="45700" rIns="91425" bIns="45700" anchor="t" anchorCtr="0">
            <a:spAutoFit/>
          </a:bodyPr>
          <a:lstStyle/>
          <a:p>
            <a:r>
              <a:rPr lang="en-IN" b="1" dirty="0"/>
              <a:t>Inference Token Usage:</a:t>
            </a:r>
            <a:r>
              <a:rPr lang="en-IN" dirty="0"/>
              <a:t> Over </a:t>
            </a:r>
            <a:r>
              <a:rPr lang="en-IN" b="1" dirty="0"/>
              <a:t>210,644 tokens</a:t>
            </a:r>
            <a:r>
              <a:rPr lang="en-IN" dirty="0"/>
              <a:t> successfully processed through IBM watsonx.ai (Granite-4-h-small) to power the multi-agent reasoning, semantic RAG, and debate synthesis.</a:t>
            </a:r>
          </a:p>
          <a:p>
            <a:endParaRPr lang="en-IN" dirty="0"/>
          </a:p>
          <a:p>
            <a:r>
              <a:rPr lang="en-IN" b="1" dirty="0"/>
              <a:t>Development &amp; Troubleshooting:</a:t>
            </a:r>
            <a:r>
              <a:rPr lang="en-IN" dirty="0"/>
              <a:t> Utilized </a:t>
            </a:r>
            <a:r>
              <a:rPr lang="en-IN" b="1" dirty="0"/>
              <a:t>IBM Bob</a:t>
            </a:r>
            <a:r>
              <a:rPr lang="en-IN" dirty="0"/>
              <a:t> as an AI pair-programmer to troubleshoot complex asynchronous Python pipelines (</a:t>
            </a:r>
            <a:r>
              <a:rPr lang="en-IN" dirty="0" err="1"/>
              <a:t>FastAPI</a:t>
            </a:r>
            <a:r>
              <a:rPr lang="en-IN" dirty="0"/>
              <a:t>), debug Server-Sent Events (SSE), and optimize frontend components.</a:t>
            </a:r>
          </a:p>
        </p:txBody>
      </p:sp>
      <p:sp>
        <p:nvSpPr>
          <p:cNvPr id="151" name="Google Shape;151;p39"/>
          <p:cNvSpPr txBox="1"/>
          <p:nvPr/>
        </p:nvSpPr>
        <p:spPr>
          <a:xfrm>
            <a:off x="2322671" y="2654902"/>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dirty="0">
                <a:solidFill>
                  <a:srgbClr val="000000"/>
                </a:solidFill>
                <a:latin typeface="Arial"/>
                <a:ea typeface="Arial"/>
                <a:cs typeface="Arial"/>
                <a:sym typeface="Arial"/>
              </a:rPr>
              <a:t>Token Usage</a:t>
            </a:r>
            <a:endParaRPr dirty="0"/>
          </a:p>
        </p:txBody>
      </p:sp>
      <p:sp>
        <p:nvSpPr>
          <p:cNvPr id="152" name="Google Shape;152;p39"/>
          <p:cNvSpPr txBox="1"/>
          <p:nvPr/>
        </p:nvSpPr>
        <p:spPr>
          <a:xfrm>
            <a:off x="8497729" y="2654902"/>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dirty="0">
                <a:solidFill>
                  <a:srgbClr val="000000"/>
                </a:solidFill>
                <a:latin typeface="Arial"/>
                <a:ea typeface="Arial"/>
                <a:cs typeface="Arial"/>
                <a:sym typeface="Arial"/>
              </a:rPr>
              <a:t>Bob Credits Usage</a:t>
            </a:r>
            <a:endParaRPr dirty="0"/>
          </a:p>
        </p:txBody>
      </p:sp>
      <p:pic>
        <p:nvPicPr>
          <p:cNvPr id="3" name="Picture 2">
            <a:extLst>
              <a:ext uri="{FF2B5EF4-FFF2-40B4-BE49-F238E27FC236}">
                <a16:creationId xmlns:a16="http://schemas.microsoft.com/office/drawing/2014/main" id="{29E88A63-C283-9017-DB30-61A4100EAB79}"/>
              </a:ext>
            </a:extLst>
          </p:cNvPr>
          <p:cNvPicPr>
            <a:picLocks noChangeAspect="1"/>
          </p:cNvPicPr>
          <p:nvPr/>
        </p:nvPicPr>
        <p:blipFill>
          <a:blip r:embed="rId3"/>
          <a:stretch>
            <a:fillRect/>
          </a:stretch>
        </p:blipFill>
        <p:spPr>
          <a:xfrm>
            <a:off x="8004207" y="3583443"/>
            <a:ext cx="3307397" cy="2533893"/>
          </a:xfrm>
          <a:prstGeom prst="rect">
            <a:avLst/>
          </a:prstGeom>
        </p:spPr>
      </p:pic>
      <p:pic>
        <p:nvPicPr>
          <p:cNvPr id="5" name="Picture 4">
            <a:extLst>
              <a:ext uri="{FF2B5EF4-FFF2-40B4-BE49-F238E27FC236}">
                <a16:creationId xmlns:a16="http://schemas.microsoft.com/office/drawing/2014/main" id="{23D82BD0-3841-F2A8-31C1-4D6E3710CE12}"/>
              </a:ext>
            </a:extLst>
          </p:cNvPr>
          <p:cNvPicPr>
            <a:picLocks noChangeAspect="1"/>
          </p:cNvPicPr>
          <p:nvPr/>
        </p:nvPicPr>
        <p:blipFill>
          <a:blip r:embed="rId4"/>
          <a:stretch>
            <a:fillRect/>
          </a:stretch>
        </p:blipFill>
        <p:spPr>
          <a:xfrm>
            <a:off x="517780" y="3223056"/>
            <a:ext cx="6205908" cy="31761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445008" y="411480"/>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445008" y="1010286"/>
            <a:ext cx="11746992" cy="5847714"/>
          </a:xfrm>
          <a:prstGeom prst="rect">
            <a:avLst/>
          </a:prstGeom>
          <a:noFill/>
          <a:ln>
            <a:noFill/>
          </a:ln>
        </p:spPr>
        <p:txBody>
          <a:bodyPr spcFirstLastPara="1" wrap="square" lIns="91425" tIns="45700" rIns="91425" bIns="45700" anchor="t" anchorCtr="0">
            <a:spAutoFit/>
          </a:bodyPr>
          <a:lstStyle/>
          <a:p>
            <a:r>
              <a:rPr lang="en-IN" sz="1800" dirty="0"/>
              <a:t>The proposed </a:t>
            </a:r>
            <a:r>
              <a:rPr lang="en-IN" sz="1800" dirty="0" err="1"/>
              <a:t>FinForensic</a:t>
            </a:r>
            <a:r>
              <a:rPr lang="en-IN" sz="1800" dirty="0"/>
              <a:t> AI Terminal stands out by combining </a:t>
            </a:r>
            <a:r>
              <a:rPr lang="en-IN" sz="1800" b="1" dirty="0"/>
              <a:t>Agentic AI, RAG, and deterministic institutional guardrails</a:t>
            </a:r>
            <a:r>
              <a:rPr lang="en-IN" sz="1800" dirty="0"/>
              <a:t> into a single intelligent system.</a:t>
            </a:r>
          </a:p>
          <a:p>
            <a:endParaRPr lang="en-IN" sz="1800" dirty="0"/>
          </a:p>
          <a:p>
            <a:pPr marL="285750" indent="-285750">
              <a:buFont typeface="Courier New" panose="02070309020205020404" pitchFamily="49" charset="0"/>
              <a:buChar char="o"/>
            </a:pPr>
            <a:r>
              <a:rPr lang="en-IN" sz="1800" b="1" dirty="0"/>
              <a:t>Multi-Agent Debate Protocol</a:t>
            </a:r>
            <a:r>
              <a:rPr lang="en-IN" sz="1800" dirty="0"/>
              <a:t> – Instead of a single chatbot, multiple specialized agents (Quant, Compliance, Macro) collaborate and cross-examine financial data to deliver risk-adjusted verdicts.</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Zero-Tolerance "Hard Veto"</a:t>
            </a:r>
            <a:r>
              <a:rPr lang="en-IN" sz="1800" dirty="0"/>
              <a:t> – The Compliance Agent operates with overriding authority, programmatically blocking investment strategies that violate predefined regulatory frameworks (e.g., SEBI guidelines).</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Cognitive Audit Trails via RAG</a:t>
            </a:r>
            <a:r>
              <a:rPr lang="en-IN" sz="1800" dirty="0"/>
              <a:t> – Integrates localized document retrieval (</a:t>
            </a:r>
            <a:r>
              <a:rPr lang="en-IN" sz="1800" dirty="0" err="1"/>
              <a:t>ChromaDB</a:t>
            </a:r>
            <a:r>
              <a:rPr lang="en-IN" sz="1800" dirty="0"/>
              <a:t>) with AI generation, forcing agents to ground their reasoning in actual corporate disclosures to ensure transparency.</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Production-Ready Hybrid Cloud</a:t>
            </a:r>
            <a:r>
              <a:rPr lang="en-IN" sz="1800" dirty="0"/>
              <a:t> – Moves beyond low-code prototypes by leveraging a highly concurrent </a:t>
            </a:r>
            <a:r>
              <a:rPr lang="en-IN" sz="1800" dirty="0" err="1"/>
              <a:t>FastAPI</a:t>
            </a:r>
            <a:r>
              <a:rPr lang="en-IN" sz="1800" dirty="0"/>
              <a:t> backend and an Angular 18 reactive frontend with live Server-Sent Events (SSE) streaming.</a:t>
            </a:r>
          </a:p>
          <a:p>
            <a:pPr marL="285750" indent="-285750">
              <a:buFont typeface="Courier New" panose="02070309020205020404" pitchFamily="49" charset="0"/>
              <a:buChar char="o"/>
            </a:pPr>
            <a:endParaRPr lang="en-IN" sz="1800" dirty="0"/>
          </a:p>
          <a:p>
            <a:pPr marL="285750" indent="-285750">
              <a:buFont typeface="Courier New" panose="02070309020205020404" pitchFamily="49" charset="0"/>
              <a:buChar char="o"/>
            </a:pPr>
            <a:r>
              <a:rPr lang="en-IN" sz="1800" b="1" dirty="0"/>
              <a:t>Enterprise-Grade Reasoning</a:t>
            </a:r>
            <a:r>
              <a:rPr lang="en-IN" sz="1800" dirty="0"/>
              <a:t> – Built on </a:t>
            </a:r>
            <a:r>
              <a:rPr lang="en-IN" sz="1800" b="1" dirty="0"/>
              <a:t>IBM watsonx.ai</a:t>
            </a:r>
            <a:r>
              <a:rPr lang="en-IN" sz="1800" dirty="0"/>
              <a:t> with </a:t>
            </a:r>
            <a:r>
              <a:rPr lang="en-IN" sz="1800" b="1" dirty="0"/>
              <a:t>IBM Granite models</a:t>
            </a:r>
            <a:r>
              <a:rPr lang="en-IN" sz="1800" dirty="0"/>
              <a:t>, ensuring the reliability, security, and governance required for high-stakes financial environments.</a:t>
            </a:r>
          </a:p>
          <a:p>
            <a:endParaRPr lang="en-IN" sz="1800" dirty="0"/>
          </a:p>
          <a:p>
            <a:r>
              <a:rPr lang="en-IN" sz="1800" dirty="0"/>
              <a:t>This makes the solution a </a:t>
            </a:r>
            <a:r>
              <a:rPr lang="en-IN" sz="1800" b="1" dirty="0"/>
              <a:t>deterministic, strictly governed, and proactive institutional auditor</a:t>
            </a:r>
            <a:r>
              <a:rPr lang="en-IN" sz="1800" dirty="0"/>
              <a:t>, not just a standard generative Q&amp;A tool.</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10010108" cy="5393008"/>
          </a:xfrm>
          <a:prstGeom prst="rect">
            <a:avLst/>
          </a:prstGeom>
          <a:noFill/>
          <a:ln>
            <a:noFill/>
          </a:ln>
        </p:spPr>
        <p:txBody>
          <a:bodyPr spcFirstLastPara="1" wrap="square" lIns="0" tIns="0" rIns="0" bIns="0" anchor="t" anchorCtr="0">
            <a:noAutofit/>
          </a:bodyPr>
          <a:lstStyle/>
          <a:p>
            <a:pPr lvl="0" algn="ctr">
              <a:lnSpc>
                <a:spcPct val="157142"/>
              </a:lnSpc>
              <a:buClr>
                <a:srgbClr val="051D3A"/>
              </a:buClr>
              <a:buSzPts val="3500"/>
            </a:pPr>
            <a:endParaRPr lang="en-US" sz="2400" b="1" i="0" u="none" strike="noStrike" cap="none" dirty="0">
              <a:solidFill>
                <a:srgbClr val="000000"/>
              </a:solidFill>
              <a:latin typeface="Arial"/>
              <a:ea typeface="Arial"/>
              <a:cs typeface="Arial"/>
              <a:sym typeface="Arial"/>
            </a:endParaRPr>
          </a:p>
          <a:p>
            <a:pPr lvl="0" algn="ctr">
              <a:lnSpc>
                <a:spcPct val="157142"/>
              </a:lnSpc>
              <a:buClr>
                <a:srgbClr val="051D3A"/>
              </a:buClr>
              <a:buSzPts val="3500"/>
            </a:pPr>
            <a:endParaRPr lang="en-US" sz="2400" b="1" dirty="0"/>
          </a:p>
          <a:p>
            <a:pPr lvl="0" algn="ctr">
              <a:lnSpc>
                <a:spcPct val="157142"/>
              </a:lnSpc>
              <a:buClr>
                <a:srgbClr val="051D3A"/>
              </a:buClr>
              <a:buSzPts val="3500"/>
            </a:pPr>
            <a:endParaRPr lang="en-US" sz="2400" b="1" dirty="0"/>
          </a:p>
          <a:p>
            <a:pPr lvl="0">
              <a:lnSpc>
                <a:spcPct val="157142"/>
              </a:lnSpc>
              <a:buClr>
                <a:srgbClr val="051D3A"/>
              </a:buClr>
              <a:buSzPts val="3500"/>
            </a:pPr>
            <a:r>
              <a:rPr lang="en-US" sz="2400" b="1" i="0" u="none" strike="noStrike" cap="none" dirty="0">
                <a:solidFill>
                  <a:srgbClr val="000000"/>
                </a:solidFill>
                <a:latin typeface="Arial"/>
                <a:ea typeface="Arial"/>
                <a:cs typeface="Arial"/>
                <a:sym typeface="Arial"/>
              </a:rPr>
              <a:t>                    GitHub Link: </a:t>
            </a:r>
            <a:r>
              <a:rPr lang="en-IN" sz="2400" dirty="0">
                <a:hlinkClick r:id="rId3"/>
              </a:rPr>
              <a:t>kartikjoshi7/</a:t>
            </a:r>
            <a:r>
              <a:rPr lang="en-IN" sz="2400" dirty="0" err="1">
                <a:hlinkClick r:id="rId3"/>
              </a:rPr>
              <a:t>FinForensic</a:t>
            </a:r>
            <a:r>
              <a:rPr lang="en-IN" sz="2400" dirty="0">
                <a:hlinkClick r:id="rId3"/>
              </a:rPr>
              <a:t>-AI</a:t>
            </a:r>
            <a:endParaRPr lang="en-IN" sz="2400" dirty="0"/>
          </a:p>
          <a:p>
            <a:pPr lvl="0" algn="ctr">
              <a:lnSpc>
                <a:spcPct val="157142"/>
              </a:lnSpc>
              <a:buClr>
                <a:srgbClr val="051D3A"/>
              </a:buClr>
              <a:buSzPts val="3500"/>
            </a:pPr>
            <a:endParaRPr lang="en-IN" sz="2400" b="1" dirty="0"/>
          </a:p>
          <a:p>
            <a:pPr lvl="0" algn="ctr">
              <a:lnSpc>
                <a:spcPct val="157142"/>
              </a:lnSpc>
              <a:buClr>
                <a:srgbClr val="051D3A"/>
              </a:buClr>
              <a:buSzPts val="3500"/>
            </a:pPr>
            <a:r>
              <a:rPr lang="en-IN" sz="2400" b="1" dirty="0"/>
              <a:t>Live URL: </a:t>
            </a:r>
            <a:r>
              <a:rPr lang="en-IN" sz="2400" dirty="0">
                <a:hlinkClick r:id="rId4"/>
              </a:rPr>
              <a:t>https://finforensic-terminal.vercel.app/</a:t>
            </a:r>
            <a:endParaRPr sz="2400"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127522" y="1058970"/>
            <a:ext cx="9936956" cy="5636285"/>
          </a:xfrm>
          <a:prstGeom prst="rect">
            <a:avLst/>
          </a:prstGeom>
          <a:noFill/>
          <a:ln>
            <a:noFill/>
          </a:ln>
        </p:spPr>
        <p:txBody>
          <a:bodyPr spcFirstLastPara="1" wrap="square" lIns="0" tIns="0" rIns="0" bIns="0" anchor="t" anchorCtr="0">
            <a:noAutofit/>
          </a:bodyPr>
          <a:lstStyle/>
          <a:p>
            <a:pPr marL="342900" indent="-342900">
              <a:buAutoNum type="arabicPeriod"/>
            </a:pPr>
            <a:r>
              <a:rPr lang="en-IN" sz="1800" b="1" dirty="0"/>
              <a:t>Predictive Compliance &amp; Market Sentiment Integration –</a:t>
            </a:r>
            <a:r>
              <a:rPr lang="en-IN" sz="1800" dirty="0"/>
              <a:t> Integrate with live financial data feeds (e.g., Bloomberg, Reuters, SEBI APIs) to transition from reactive auditing to predictive monitoring. This will allow the Swarm to alert institutional firms to potential regulatory violations before transactions are executed by cross-referencing live market sentiment with historical corporate disclosure data.</a:t>
            </a:r>
          </a:p>
          <a:p>
            <a:pPr marL="342900" indent="-342900">
              <a:buAutoNum type="arabicPeriod"/>
            </a:pPr>
            <a:endParaRPr lang="en-IN" sz="1800" dirty="0"/>
          </a:p>
          <a:p>
            <a:r>
              <a:rPr lang="en-IN" sz="1800" b="1" dirty="0"/>
              <a:t>2. Multi-Modal Analysis &amp; Transcript Processing –</a:t>
            </a:r>
            <a:r>
              <a:rPr lang="en-IN" sz="1800" dirty="0"/>
              <a:t> Extend the Cognitive Layer to ingest and </a:t>
            </a:r>
            <a:r>
              <a:rPr lang="en-IN" sz="1800" dirty="0" err="1"/>
              <a:t>analyze</a:t>
            </a:r>
            <a:r>
              <a:rPr lang="en-IN" sz="1800" dirty="0"/>
              <a:t> audio earnings calls and video transcripts using </a:t>
            </a:r>
            <a:r>
              <a:rPr lang="en-IN" sz="1800" dirty="0" err="1"/>
              <a:t>Watsonx</a:t>
            </a:r>
            <a:r>
              <a:rPr lang="en-IN" sz="1800" dirty="0"/>
              <a:t> speech-to-text capabilities. This will allow the agents to detect nuances in executive tone, hesitation, or sentiment, providing a deeper layer of "forensic" risk assessment that goes beyond static PDF documents.</a:t>
            </a:r>
          </a:p>
          <a:p>
            <a:endParaRPr lang="en-IN" sz="1800" dirty="0"/>
          </a:p>
          <a:p>
            <a:r>
              <a:rPr lang="en-IN" sz="1800" b="1" dirty="0"/>
              <a:t>3. Global Regulatory Framework Expansion –</a:t>
            </a:r>
            <a:r>
              <a:rPr lang="en-IN" sz="1800" dirty="0"/>
              <a:t> Scale the Compliance Agent’s "Hard Veto" protocols to support international regulatory standards (e.g., GDPR, SEC, Basel III) beyond domestic mandates. This will make the platform fully viable for multinational financial institutions operating across complex, diverse legal jurisdictions.</a:t>
            </a:r>
          </a:p>
          <a:p>
            <a:endParaRPr lang="en-IN" sz="1800" dirty="0"/>
          </a:p>
          <a:p>
            <a:r>
              <a:rPr lang="en-IN" sz="1800" b="1" dirty="0"/>
              <a:t>4. Federated Learning for Institutional Privacy –</a:t>
            </a:r>
            <a:r>
              <a:rPr lang="en-IN" sz="1800" dirty="0"/>
              <a:t> Implement federated learning architectures to allow the Granite models to improve their contextual reasoning across multiple institutional clients without ever sharing sensitive, proprietary financial data. This ensures high-accuracy risk models while maintaining uncompromising data privacy and security.</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83" name="Google Shape;183;p43"/>
          <p:cNvSpPr txBox="1"/>
          <p:nvPr/>
        </p:nvSpPr>
        <p:spPr>
          <a:xfrm>
            <a:off x="552048" y="690062"/>
            <a:ext cx="8473080" cy="369291"/>
          </a:xfrm>
          <a:prstGeom prst="rect">
            <a:avLst/>
          </a:prstGeom>
          <a:noFill/>
          <a:ln>
            <a:noFill/>
          </a:ln>
        </p:spPr>
        <p:txBody>
          <a:bodyPr spcFirstLastPara="1" wrap="square" lIns="91425" tIns="45700" rIns="91425" bIns="45700" anchor="t" anchorCtr="0">
            <a:spAutoFit/>
          </a:bodyPr>
          <a:lstStyle/>
          <a:p>
            <a:pPr lvl="0"/>
            <a:r>
              <a:rPr lang="en-US" sz="1800" b="1" dirty="0"/>
              <a:t>Getting Started with Artificial Intelligence</a:t>
            </a:r>
            <a:endParaRPr sz="1800" dirty="0"/>
          </a:p>
        </p:txBody>
      </p:sp>
      <p:pic>
        <p:nvPicPr>
          <p:cNvPr id="5" name="Picture 4">
            <a:extLst>
              <a:ext uri="{FF2B5EF4-FFF2-40B4-BE49-F238E27FC236}">
                <a16:creationId xmlns:a16="http://schemas.microsoft.com/office/drawing/2014/main" id="{64DE42AD-0E9C-9332-80FD-617727BD2868}"/>
              </a:ext>
            </a:extLst>
          </p:cNvPr>
          <p:cNvPicPr>
            <a:picLocks noChangeAspect="1"/>
          </p:cNvPicPr>
          <p:nvPr/>
        </p:nvPicPr>
        <p:blipFill>
          <a:blip r:embed="rId3"/>
          <a:stretch>
            <a:fillRect/>
          </a:stretch>
        </p:blipFill>
        <p:spPr>
          <a:xfrm>
            <a:off x="2599312" y="1230010"/>
            <a:ext cx="7313368" cy="54908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7421861" cy="400069"/>
          </a:xfrm>
          <a:prstGeom prst="rect">
            <a:avLst/>
          </a:prstGeom>
          <a:noFill/>
          <a:ln>
            <a:noFill/>
          </a:ln>
        </p:spPr>
        <p:txBody>
          <a:bodyPr spcFirstLastPara="1" wrap="square" lIns="91425" tIns="45700" rIns="91425" bIns="45700" anchor="t" anchorCtr="0">
            <a:spAutoFit/>
          </a:bodyPr>
          <a:lstStyle/>
          <a:p>
            <a:pPr lvl="0"/>
            <a:r>
              <a:rPr lang="en-US" sz="2000" b="1" dirty="0"/>
              <a:t>Lab - Troubleshoot your code using IBM Bob</a:t>
            </a:r>
            <a:endParaRPr dirty="0"/>
          </a:p>
        </p:txBody>
      </p:sp>
      <p:pic>
        <p:nvPicPr>
          <p:cNvPr id="3" name="Picture 2">
            <a:extLst>
              <a:ext uri="{FF2B5EF4-FFF2-40B4-BE49-F238E27FC236}">
                <a16:creationId xmlns:a16="http://schemas.microsoft.com/office/drawing/2014/main" id="{ED38A344-C8A2-5B26-682D-39C8E2573F3D}"/>
              </a:ext>
            </a:extLst>
          </p:cNvPr>
          <p:cNvPicPr>
            <a:picLocks noChangeAspect="1"/>
          </p:cNvPicPr>
          <p:nvPr/>
        </p:nvPicPr>
        <p:blipFill>
          <a:blip r:embed="rId3"/>
          <a:stretch>
            <a:fillRect/>
          </a:stretch>
        </p:blipFill>
        <p:spPr>
          <a:xfrm>
            <a:off x="2311547" y="1477578"/>
            <a:ext cx="8039767" cy="49651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1612</Words>
  <Application>Microsoft Office PowerPoint</Application>
  <PresentationFormat>Widescreen</PresentationFormat>
  <Paragraphs>129</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Courier New</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Execution: Live Boardroom UI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Kartik Joshi</dc:creator>
  <cp:lastModifiedBy>Kartik Joshi</cp:lastModifiedBy>
  <cp:revision>1</cp:revision>
  <dcterms:created xsi:type="dcterms:W3CDTF">2025-07-08T05:06:56Z</dcterms:created>
  <dcterms:modified xsi:type="dcterms:W3CDTF">2026-07-09T08:11:06Z</dcterms:modified>
</cp:coreProperties>
</file>